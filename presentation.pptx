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40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125" y="1837172"/>
            <a:ext cx="45291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CELL COUNTER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769125" y="3137334"/>
            <a:ext cx="452913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Comptage de Cellules Médullaires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6281728" y="2429752"/>
            <a:ext cx="20931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281728" y="2586075"/>
            <a:ext cx="2703522" cy="349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Nouvelles</a:t>
            </a:r>
            <a:r>
              <a:rPr lang="fr-FR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Technologies et IA dans l’enseignement des sciences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81728" y="3021248"/>
            <a:ext cx="20931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ENCADRANT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6281728" y="3160551"/>
            <a:ext cx="144125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Pr. Ahmed MHAMDI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81728" y="3405225"/>
            <a:ext cx="20931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RÉALISÉ PAR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6281728" y="3544528"/>
            <a:ext cx="8572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Ilham NAJJI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QU'EST-CE QUE CELL COUNTER ?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674065"/>
            <a:ext cx="454816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application web médicale </a:t>
            </a:r>
            <a:r>
              <a:rPr lang="en-US" sz="1193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intuitive</a:t>
            </a:r>
            <a:r>
              <a:rPr lang="en-US" sz="1269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conçue pour moderniser les pratiques en hématologie.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571500" y="2436995"/>
            <a:ext cx="4548169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Elle remplace les compteurs mécaniques traditionnels par une interface numérique fluide, permettant de classer et compter les cellules sanguines observées au microscope.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3748543"/>
            <a:ext cx="4548169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Accessible directement via navigateur, elle ne nécessite </a:t>
            </a:r>
            <a:r>
              <a:rPr lang="en-US" sz="1193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aucune installation</a:t>
            </a:r>
            <a:r>
              <a:rPr lang="en-US" sz="1269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facilitant son déploiement immédiat en laboratoire.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6095991" y="1659778"/>
            <a:ext cx="589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6262083" y="1659778"/>
            <a:ext cx="231041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Modernisation de l'hémogramme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95991" y="1996725"/>
            <a:ext cx="49694" cy="1676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6262083" y="1996725"/>
            <a:ext cx="1808187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Interface visuelle moderne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991" y="2312836"/>
            <a:ext cx="589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6262083" y="2312836"/>
            <a:ext cx="1633460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Zéro installation requise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95991" y="2628947"/>
            <a:ext cx="589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6262083" y="2628947"/>
            <a:ext cx="14591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Usage fluide en labo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DIGITALISER POUR RÉDUIRE LES ERREURS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31228"/>
            <a:ext cx="38576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CONSTAT MANUEL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183057"/>
            <a:ext cx="3857625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Processus fastidieux : comptage de dizaines de cellules par lame.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783132"/>
            <a:ext cx="3857625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Risque d'erreurs élevé avec les compteurs mécaniques.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3383207"/>
            <a:ext cx="3857625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Difficulté de concentration lors de sessions prolongées.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211632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571500" y="2811707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571500" y="3411782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714875" y="1831228"/>
            <a:ext cx="38576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BESOIN NUMÉRIQUE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714875" y="2183057"/>
            <a:ext cx="3857625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Centralisation automatique des données en temps réel.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14875" y="2783132"/>
            <a:ext cx="3857625" cy="22860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 instantané des totaux et pourcentages.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14875" y="3154607"/>
            <a:ext cx="3857625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Édition simplifiée de rapports structurés et imprimables.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14875" y="2211632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714875" y="2811707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4714875" y="3183182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727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INTERFACE PENSÉE POUR L'EFFICACITÉ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249137"/>
            <a:ext cx="38576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CARTES VISUELLES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565248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Identification instantanée grâce aux </a:t>
            </a:r>
            <a:r>
              <a:rPr lang="en-US" sz="885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 réelles</a:t>
            </a: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 cellules intégrées directement dans l'interface de comptage.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714875" y="2249137"/>
            <a:ext cx="38576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INTERACTIONS INTUITIVES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714875" y="2565248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 gauche</a:t>
            </a: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pour incrémenter (+1) et </a:t>
            </a:r>
            <a:r>
              <a:rPr lang="en-US" sz="885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 droit</a:t>
            </a: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pour corriger (-1), permettant une saisie rapide sans quitter l'oculaire.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3758254"/>
            <a:ext cx="38576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EN DIRECT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4074365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Affichage permanent du </a:t>
            </a:r>
            <a:r>
              <a:rPr lang="en-US" sz="885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décompte global</a:t>
            </a: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dans l'entête, avec mise à jour instantanée à chaque interaction.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714875" y="3758254"/>
            <a:ext cx="38576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NAVIGATION STRUCTURÉE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714875" y="4074365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Organisation par </a:t>
            </a:r>
            <a:r>
              <a:rPr lang="en-US" sz="885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onglets dédiés</a:t>
            </a: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pour basculer facilement entre les séries érythrocytaires et leucocytaires.</a:t>
            </a:r>
            <a:endParaRPr lang="en-US" sz="942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CATALOGUE COMPLET POUR LE DIAGNOSTIC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249137"/>
            <a:ext cx="38576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SÉRIE ÉRYTHROCYTAIRE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2600967"/>
            <a:ext cx="1296591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2600967"/>
            <a:ext cx="1296591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Érythrocyte normal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1925241" y="2600967"/>
            <a:ext cx="873323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25241" y="2600967"/>
            <a:ext cx="873323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Cellule cible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2855714" y="2600967"/>
            <a:ext cx="835819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55714" y="2600967"/>
            <a:ext cx="835819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Sphérocyte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571500" y="2926007"/>
            <a:ext cx="753666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" y="2926007"/>
            <a:ext cx="753666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Ovalocyte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1382316" y="2926007"/>
            <a:ext cx="928688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82316" y="2926007"/>
            <a:ext cx="928688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Drépanocyte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2368153" y="2926007"/>
            <a:ext cx="912614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68153" y="2926007"/>
            <a:ext cx="912614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Acanthocyte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3337917" y="2926007"/>
            <a:ext cx="832247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37917" y="2926007"/>
            <a:ext cx="832247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Dacryocyte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571500" y="3251048"/>
            <a:ext cx="917972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" y="3251048"/>
            <a:ext cx="917972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Stomatocyte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1546622" y="3251048"/>
            <a:ext cx="823317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46622" y="3251048"/>
            <a:ext cx="823317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Échinocyte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2427089" y="3251048"/>
            <a:ext cx="787598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27089" y="3251048"/>
            <a:ext cx="787598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Elliptocyte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571500" y="3576089"/>
            <a:ext cx="1218009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1500" y="3576089"/>
            <a:ext cx="1218009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Schizocyte mordu</a:t>
            </a:r>
            <a:endParaRPr lang="en-US" sz="834" dirty="0"/>
          </a:p>
        </p:txBody>
      </p:sp>
      <p:sp>
        <p:nvSpPr>
          <p:cNvPr id="27" name="Shape 24"/>
          <p:cNvSpPr/>
          <p:nvPr/>
        </p:nvSpPr>
        <p:spPr>
          <a:xfrm>
            <a:off x="1846659" y="3576089"/>
            <a:ext cx="839391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846659" y="3576089"/>
            <a:ext cx="839391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Schistocyte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4714875" y="2249137"/>
            <a:ext cx="38576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LEUCOCYTES</a:t>
            </a:r>
            <a:endParaRPr lang="en-US" sz="1193" dirty="0"/>
          </a:p>
        </p:txBody>
      </p:sp>
      <p:sp>
        <p:nvSpPr>
          <p:cNvPr id="30" name="Shape 27"/>
          <p:cNvSpPr/>
          <p:nvPr/>
        </p:nvSpPr>
        <p:spPr>
          <a:xfrm>
            <a:off x="4714875" y="2600967"/>
            <a:ext cx="1487686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14875" y="2600967"/>
            <a:ext cx="1487686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Neutrophile segmenté</a:t>
            </a:r>
            <a:endParaRPr lang="en-US" sz="834" dirty="0"/>
          </a:p>
        </p:txBody>
      </p:sp>
      <p:sp>
        <p:nvSpPr>
          <p:cNvPr id="32" name="Shape 29"/>
          <p:cNvSpPr/>
          <p:nvPr/>
        </p:nvSpPr>
        <p:spPr>
          <a:xfrm>
            <a:off x="6259711" y="2600967"/>
            <a:ext cx="851892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59711" y="2600967"/>
            <a:ext cx="851892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Éosinophile</a:t>
            </a:r>
            <a:endParaRPr lang="en-US" sz="834" dirty="0"/>
          </a:p>
        </p:txBody>
      </p:sp>
      <p:sp>
        <p:nvSpPr>
          <p:cNvPr id="34" name="Shape 31"/>
          <p:cNvSpPr/>
          <p:nvPr/>
        </p:nvSpPr>
        <p:spPr>
          <a:xfrm>
            <a:off x="7168753" y="2600967"/>
            <a:ext cx="750094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68753" y="2600967"/>
            <a:ext cx="750094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Basophile</a:t>
            </a:r>
            <a:endParaRPr lang="en-US" sz="834" dirty="0"/>
          </a:p>
        </p:txBody>
      </p:sp>
      <p:sp>
        <p:nvSpPr>
          <p:cNvPr id="36" name="Shape 33"/>
          <p:cNvSpPr/>
          <p:nvPr/>
        </p:nvSpPr>
        <p:spPr>
          <a:xfrm>
            <a:off x="4714875" y="2926007"/>
            <a:ext cx="903684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14875" y="2926007"/>
            <a:ext cx="903684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Lymphocyte</a:t>
            </a:r>
            <a:endParaRPr lang="en-US" sz="834" dirty="0"/>
          </a:p>
        </p:txBody>
      </p:sp>
      <p:sp>
        <p:nvSpPr>
          <p:cNvPr id="38" name="Shape 35"/>
          <p:cNvSpPr/>
          <p:nvPr/>
        </p:nvSpPr>
        <p:spPr>
          <a:xfrm>
            <a:off x="5675709" y="2926007"/>
            <a:ext cx="755452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75709" y="2926007"/>
            <a:ext cx="755452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Monocyte</a:t>
            </a:r>
            <a:endParaRPr lang="en-US" sz="834" dirty="0"/>
          </a:p>
        </p:txBody>
      </p:sp>
      <p:sp>
        <p:nvSpPr>
          <p:cNvPr id="40" name="Shape 37"/>
          <p:cNvSpPr/>
          <p:nvPr/>
        </p:nvSpPr>
        <p:spPr>
          <a:xfrm>
            <a:off x="6488311" y="2926007"/>
            <a:ext cx="871538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88311" y="2926007"/>
            <a:ext cx="871538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Myéloblaste</a:t>
            </a:r>
            <a:endParaRPr lang="en-US" sz="834" dirty="0"/>
          </a:p>
        </p:txBody>
      </p:sp>
      <p:sp>
        <p:nvSpPr>
          <p:cNvPr id="42" name="Shape 39"/>
          <p:cNvSpPr/>
          <p:nvPr/>
        </p:nvSpPr>
        <p:spPr>
          <a:xfrm>
            <a:off x="7416998" y="2926007"/>
            <a:ext cx="975122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16998" y="2926007"/>
            <a:ext cx="975122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Promyélocyte</a:t>
            </a:r>
            <a:endParaRPr lang="en-US" sz="834" dirty="0"/>
          </a:p>
        </p:txBody>
      </p:sp>
      <p:sp>
        <p:nvSpPr>
          <p:cNvPr id="44" name="Shape 41"/>
          <p:cNvSpPr/>
          <p:nvPr/>
        </p:nvSpPr>
        <p:spPr>
          <a:xfrm>
            <a:off x="4714875" y="3251048"/>
            <a:ext cx="767953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14875" y="3251048"/>
            <a:ext cx="767953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Myélocyte</a:t>
            </a:r>
            <a:endParaRPr lang="en-US" sz="834" dirty="0"/>
          </a:p>
        </p:txBody>
      </p:sp>
      <p:sp>
        <p:nvSpPr>
          <p:cNvPr id="46" name="Shape 43"/>
          <p:cNvSpPr/>
          <p:nvPr/>
        </p:nvSpPr>
        <p:spPr>
          <a:xfrm>
            <a:off x="5539978" y="3251048"/>
            <a:ext cx="1069777" cy="267891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539978" y="3251048"/>
            <a:ext cx="1069777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Métamyélocyte</a:t>
            </a:r>
            <a:endParaRPr lang="en-US" sz="834" dirty="0"/>
          </a:p>
        </p:txBody>
      </p:sp>
      <p:sp>
        <p:nvSpPr>
          <p:cNvPr id="48" name="Text 45"/>
          <p:cNvSpPr/>
          <p:nvPr/>
        </p:nvSpPr>
        <p:spPr>
          <a:xfrm>
            <a:off x="571500" y="4115442"/>
            <a:ext cx="8001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i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type cellulaire est représenté par une photo réelle découpée en cercle pour une identification visuelle immédiate et précise lors du comptage.</a:t>
            </a:r>
            <a:endParaRPr lang="en-US" sz="942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STRUCTURE MODULAIRE ET ROBUSTE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502615"/>
            <a:ext cx="3167053" cy="30861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502615"/>
            <a:ext cx="3167053" cy="1428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716928"/>
            <a:ext cx="2952741" cy="231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0284C7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cell-counter/
├── index.html
├── css/
│ └── style.css
├── js/
│ ├── cellData.js
│ ├── cellDrawing.js
│ └── sketch.js
└── cells/
└── photos.jpg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024303" y="1731215"/>
            <a:ext cx="45481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index.html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024303" y="1934812"/>
            <a:ext cx="32325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 HTML5 et point d'entrée de l'application.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024303" y="2246988"/>
            <a:ext cx="45481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cellData.js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024303" y="2450585"/>
            <a:ext cx="400228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"cerveau" : définit les types cellulaires et gère les compteurs.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024303" y="2762762"/>
            <a:ext cx="45481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cellDrawing.js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024303" y="2966358"/>
            <a:ext cx="40594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Moteur graphique : chargement et rendu circulaire des images.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024303" y="3278535"/>
            <a:ext cx="45481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sketch.js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024303" y="3482132"/>
            <a:ext cx="376475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Logique p5.js : gestion de la grille et des interactions souris.</a:t>
            </a:r>
            <a:endParaRPr lang="en-US" sz="942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TROIS COUCHES DE L'APPLICATION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16940"/>
            <a:ext cx="252411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COUCHE DONNÉES</a:t>
            </a:r>
            <a:endParaRPr lang="en-US" sz="1090" dirty="0"/>
          </a:p>
        </p:txBody>
      </p:sp>
      <p:sp>
        <p:nvSpPr>
          <p:cNvPr id="5" name="Shape 2"/>
          <p:cNvSpPr/>
          <p:nvPr/>
        </p:nvSpPr>
        <p:spPr>
          <a:xfrm>
            <a:off x="571500" y="2352722"/>
            <a:ext cx="868691" cy="21252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352722"/>
            <a:ext cx="868691" cy="212527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cellData.js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71500" y="2786704"/>
            <a:ext cx="2524116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des objets cellules et des compteurs.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279623"/>
            <a:ext cx="2524116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Calculs utilitaires (totaux, pourcentages).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3772542"/>
            <a:ext cx="2524116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 de données centralisée et réinitialisable.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2786704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71500" y="3279623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3772542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3309928" y="1816940"/>
            <a:ext cx="252411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COUCHE DESSIN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3309928" y="2352722"/>
            <a:ext cx="1074437" cy="21252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3309928" y="2352722"/>
            <a:ext cx="1074437" cy="212527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cellDrawing.js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3309928" y="2786704"/>
            <a:ext cx="2524116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Moteur de rendu basé sur la bibliothèque p5.js.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3309928" y="2786704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3309928" y="3279623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3452803" y="3297482"/>
            <a:ext cx="157698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Découpage circulaire via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3452803" y="3481434"/>
            <a:ext cx="16202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drawingContext.clip()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5073011" y="3492150"/>
            <a:ext cx="2678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3309928" y="3774328"/>
            <a:ext cx="2524116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Optimisation de l'affichage des images microscopiques.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3309928" y="3774328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6048356" y="1816940"/>
            <a:ext cx="25241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COUCHE INTERACTION</a:t>
            </a:r>
            <a:endParaRPr lang="en-US" sz="1090" dirty="0"/>
          </a:p>
        </p:txBody>
      </p:sp>
      <p:sp>
        <p:nvSpPr>
          <p:cNvPr id="25" name="Shape 22"/>
          <p:cNvSpPr/>
          <p:nvPr/>
        </p:nvSpPr>
        <p:spPr>
          <a:xfrm>
            <a:off x="6048356" y="2352722"/>
            <a:ext cx="731537" cy="21252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3"/>
          <p:cNvSpPr/>
          <p:nvPr/>
        </p:nvSpPr>
        <p:spPr>
          <a:xfrm>
            <a:off x="6048356" y="2352722"/>
            <a:ext cx="731537" cy="212527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sketch.js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6048356" y="2786704"/>
            <a:ext cx="2524144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du cycle de vie (preload, setup, draw).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6048356" y="3279623"/>
            <a:ext cx="2524144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Détection précise des clics (gauche/droit).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6048356" y="3772542"/>
            <a:ext cx="2524144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Rendu à la demande pour économiser les ressources.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6048356" y="2786704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6048356" y="3279623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6048356" y="3772542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8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DÉVELOPPEMENT MODERNE ET LÉGER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02653"/>
            <a:ext cx="18930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71500" y="2013393"/>
            <a:ext cx="189309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HTML5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71500" y="2329504"/>
            <a:ext cx="1893094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Squelette sémantique de l'application et gestion de la navigation.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607469" y="1802653"/>
            <a:ext cx="18930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2607469" y="2013393"/>
            <a:ext cx="189309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CSS3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2607469" y="2329504"/>
            <a:ext cx="1893094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Mise en forme responsive, variables de thème et typographie Montserrat.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643438" y="1802653"/>
            <a:ext cx="18930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LOGIQUE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643438" y="2013393"/>
            <a:ext cx="189309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 (ES5)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643438" y="2329504"/>
            <a:ext cx="1893094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Moteur de calcul et gestion des données sans dépendances externes.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679406" y="1802653"/>
            <a:ext cx="18930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RENDU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6679406" y="2013393"/>
            <a:ext cx="189309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P5.JS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679406" y="2329504"/>
            <a:ext cx="1893094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Bibliothèque v1.9.4 pour le rendu performant du canvas et des images.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71500" y="3583930"/>
            <a:ext cx="8001000" cy="33932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NATIF</a:t>
            </a:r>
            <a:endParaRPr lang="en-US" sz="987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 CHARGEMENT À L'INTERACTION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1919269" y="1431178"/>
            <a:ext cx="13263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DÉMARRAGE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3245607" y="1431178"/>
            <a:ext cx="39790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preload() &amp; setup()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3245607" y="1679423"/>
            <a:ext cx="350222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Chargement des images JPG et calcul de la grille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245607" y="1879448"/>
            <a:ext cx="25324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dynamique selon la taille de l'écran.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20180" y="2009822"/>
            <a:ext cx="1035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1919269" y="2333076"/>
            <a:ext cx="13263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AFFICHAGE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3245607" y="2333076"/>
            <a:ext cx="39790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draw()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245607" y="2581322"/>
            <a:ext cx="389513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Rendu initial du canvas p5.js avec tous les compteurs à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45607" y="2781347"/>
            <a:ext cx="33039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zéro.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20180" y="2911720"/>
            <a:ext cx="1035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1919269" y="3234975"/>
            <a:ext cx="13263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3245607" y="3234975"/>
            <a:ext cx="39790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mousePressed()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3245607" y="3483220"/>
            <a:ext cx="27717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Détection de la carte sous le curseur et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45607" y="3683245"/>
            <a:ext cx="331291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incrémentation/décrémentation du compteur.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20180" y="3813618"/>
            <a:ext cx="1035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1919269" y="4136873"/>
            <a:ext cx="13263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MISE À JOUR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3245607" y="4136873"/>
            <a:ext cx="39790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redraw()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3245607" y="4385118"/>
            <a:ext cx="365938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Mise à jour instantanée du canvas et du total global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245607" y="4585143"/>
            <a:ext cx="14001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dans l'entête HTML.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INNOVATION ET ERGONOMIE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31228"/>
            <a:ext cx="38576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GRILLE DYNAMIQUE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147339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Adaptation automatique de la mise en page à toutes les tailles d'écran via </a:t>
            </a:r>
            <a:r>
              <a:rPr lang="en-US" sz="885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windowResized()</a:t>
            </a: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garantissant une lisibilité parfaite sur tablette ou PC.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714875" y="1831228"/>
            <a:ext cx="38576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DÉCOUPAGE CIRCULAIRE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714875" y="2147339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Utilisation avancée de </a:t>
            </a:r>
            <a:r>
              <a:rPr lang="en-US" sz="885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drawingContext.clip()</a:t>
            </a: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pour masquer les photos de cellules en cercles parfaits, offrant un rendu professionnel et homogène.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340345"/>
            <a:ext cx="38576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 HORS-LIGNE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3656456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sans dépendance serveur. L'application est </a:t>
            </a:r>
            <a:r>
              <a:rPr lang="en-US" sz="885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autonome</a:t>
            </a: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et peut être utilisée sans connexion internet en laboratoire.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714875" y="3340345"/>
            <a:ext cx="38576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RETOUR VISUEL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714875" y="3656456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Système de </a:t>
            </a:r>
            <a:r>
              <a:rPr lang="en-US" sz="885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surbrillance au survol</a:t>
            </a: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et mise à jour instantanée des compteurs pour une expérience utilisateur fluide et sans erreur.</a:t>
            </a:r>
            <a:endParaRPr lang="en-US" sz="942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8"/>
          <p:cNvSpPr/>
          <p:nvPr/>
        </p:nvSpPr>
        <p:spPr>
          <a:xfrm>
            <a:off x="571500" y="1701800"/>
            <a:ext cx="107950" cy="582231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005425"/>
            <a:ext cx="8001000" cy="39190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5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Merci</a:t>
            </a:r>
            <a:endParaRPr 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792</Words>
  <Application>Microsoft Office PowerPoint</Application>
  <PresentationFormat>On-screen Show (16:9)</PresentationFormat>
  <Paragraphs>161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Fira Code</vt:lpstr>
      <vt:lpstr>monospace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Salah Eddine AMHIL</cp:lastModifiedBy>
  <cp:revision>2</cp:revision>
  <dcterms:created xsi:type="dcterms:W3CDTF">2026-04-16T23:20:21Z</dcterms:created>
  <dcterms:modified xsi:type="dcterms:W3CDTF">2026-04-16T23:29:11Z</dcterms:modified>
</cp:coreProperties>
</file>